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635220455268-4b4f63f7d6c9" ContentType="image/photo-1635220455268-4b4f63f7d6c9"/>
  <Default Extension="photo-1540189549336-e6e99c3679fe" ContentType="image/photo-1540189549336-e6e99c3679fe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($M)</c:v>
                </c:pt>
              </c:strCache>
            </c:strRef>
          </c:tx>
          <c:spPr>
            <a:solidFill>
              <a:srgbClr val="C9A5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0F4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7.5</c:v>
                </c:pt>
                <c:pt idx="2">
                  <c:v>15</c:v>
                </c:pt>
                <c:pt idx="3">
                  <c:v>28</c:v>
                </c:pt>
                <c:pt idx="4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F0F4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4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0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4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B24"/>
        </a:solidFill>
        <a:ln>
          <a:noFill/>
        </a:ln>
        <a:effectLst/>
      </c:spPr>
    </c:plotArea>
    <c:plotVisOnly val="1"/>
    <c:dispBlanksAs val="span"/>
  </c:chart>
  <c:spPr>
    <a:solidFill>
      <a:srgbClr val="141B2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hoto-1635220455268-4b4f63f7d6c9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hoto-1540189549336-e6e99c3679fe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F"/>
          </a:solidFill>
          <a:ln w="12700">
            <a:solidFill>
              <a:srgbClr val="080B0F"/>
            </a:solidFill>
            <a:prstDash val="solid"/>
          </a:ln>
        </p:spPr>
      </p:sp>
      <p:pic>
        <p:nvPicPr>
          <p:cNvPr id="3" name="Image 0" descr="https://images.unsplash.com/photo-1635220455268-4b4f63f7d6c9?w=1920&amp;q=80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00000">
              <a:alpha val="8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274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MEXAUSA FOOD GROUP, INC.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28600" y="68580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300" kern="0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 AZUL</a:t>
            </a:r>
            <a:endParaRPr lang="en-US" sz="5200" dirty="0"/>
          </a:p>
          <a:p>
            <a:pPr indent="0" marL="0">
              <a:buNone/>
            </a:pPr>
            <a:r>
              <a:rPr lang="en-US" sz="3600" spc="800" kern="0" dirty="0">
                <a:solidFill>
                  <a:srgbClr val="C9A5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TEQUILA</a:t>
            </a:r>
            <a:endParaRPr lang="en-US" sz="5200" dirty="0"/>
          </a:p>
        </p:txBody>
      </p:sp>
      <p:sp>
        <p:nvSpPr>
          <p:cNvPr id="8" name="Shape 5"/>
          <p:cNvSpPr/>
          <p:nvPr/>
        </p:nvSpPr>
        <p:spPr>
          <a:xfrm>
            <a:off x="228600" y="2267712"/>
            <a:ext cx="3657600" cy="0"/>
          </a:xfrm>
          <a:prstGeom prst="line">
            <a:avLst/>
          </a:prstGeom>
          <a:noFill/>
          <a:ln w="19050">
            <a:solidFill>
              <a:srgbClr val="C9A5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23957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JALISCO, MEXICO  ·  100% AGAVE  ·  NOM/CRT CERTIFIED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28600" y="28163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CAPITAL RAISE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" y="318211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$5,000,000 — $10,000,000 USD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228600" y="3730752"/>
            <a:ext cx="3657600" cy="0"/>
          </a:xfrm>
          <a:prstGeom prst="line">
            <a:avLst/>
          </a:prstGeom>
          <a:noFill/>
          <a:ln w="19050">
            <a:solidFill>
              <a:srgbClr val="C9A5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8600" y="38587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Saul Garcia  ·  Strategic Capital Representative  ·  sgarcia@mexausafg.com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C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Blanco  ·  Reposado  ·  Añejo  ·  Reserva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0" y="27432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Premium Expressions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Certified Jalisco Production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0" y="4709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donazultequila.com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F"/>
          </a:solidFill>
          <a:ln w="12700">
            <a:solidFill>
              <a:srgbClr val="080B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Tequila Is One of the Fastest-Growing Spirits Categories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8686800" cy="0"/>
          </a:xfrm>
          <a:prstGeom prst="line">
            <a:avLst/>
          </a:prstGeom>
          <a:noFill/>
          <a:ln w="19050">
            <a:solidFill>
              <a:srgbClr val="C9A5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417320"/>
            <a:ext cx="1993392" cy="1645920"/>
          </a:xfrm>
          <a:prstGeom prst="rect">
            <a:avLst/>
          </a:prstGeom>
          <a:solidFill>
            <a:srgbClr val="141B24"/>
          </a:solidFill>
          <a:ln w="7620">
            <a:solidFill>
              <a:srgbClr val="C9A5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572768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5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$16.3B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267712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Spirits Market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Tequila Segment 2024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04872" y="1417320"/>
            <a:ext cx="1993392" cy="1645920"/>
          </a:xfrm>
          <a:prstGeom prst="rect">
            <a:avLst/>
          </a:prstGeom>
          <a:solidFill>
            <a:srgbClr val="141B24"/>
          </a:solidFill>
          <a:ln w="7620">
            <a:solidFill>
              <a:srgbClr val="C9A5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96312" y="1572768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8.3%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96312" y="2267712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Tequila Category CAGR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2028 Projected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81144" y="1417320"/>
            <a:ext cx="1993392" cy="1645920"/>
          </a:xfrm>
          <a:prstGeom prst="rect">
            <a:avLst/>
          </a:prstGeom>
          <a:solidFill>
            <a:srgbClr val="141B24"/>
          </a:solidFill>
          <a:ln w="7620">
            <a:solidFill>
              <a:srgbClr val="C9A5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72584" y="1572768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5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72584" y="2267712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Brown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Spirits Category USA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57416" y="1417320"/>
            <a:ext cx="1993392" cy="1645920"/>
          </a:xfrm>
          <a:prstGeom prst="rect">
            <a:avLst/>
          </a:prstGeom>
          <a:solidFill>
            <a:srgbClr val="141B24"/>
          </a:solidFill>
          <a:ln w="7620">
            <a:solidFill>
              <a:srgbClr val="C9A5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48856" y="1572768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35M+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48856" y="2267712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Hispanic Adults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Tequila Consumers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3200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MARKET DRIVERS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3566160"/>
            <a:ext cx="91440" cy="91440"/>
          </a:xfrm>
          <a:prstGeom prst="ellipse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52958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Premiumization — consumers trading up to $50–$150+ bottles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3803904"/>
            <a:ext cx="91440" cy="91440"/>
          </a:xfrm>
          <a:prstGeom prst="ellipse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76732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Celebrity validation (818, Casamigos, Clase Azul) accelerating awareness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4041648"/>
            <a:ext cx="91440" cy="91440"/>
          </a:xfrm>
          <a:prstGeom prst="ellipse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400507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Hispanic demographic growth — fastest-expanding consumer segment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4279392"/>
            <a:ext cx="91440" cy="91440"/>
          </a:xfrm>
          <a:prstGeom prst="ellipse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24281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trade expansion — Mexico–California corridor growing 12% YoY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4517136"/>
            <a:ext cx="91440" cy="91440"/>
          </a:xfrm>
          <a:prstGeom prst="ellipse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48056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expansion: Total Wine, Kroger, Duty Free all actively seeking new brands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3200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U.S. MARKETS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547872"/>
            <a:ext cx="54864" cy="201168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01184" y="35478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70448" y="354787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Diego · LA · Orange County · Monterey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794760"/>
            <a:ext cx="54864" cy="201168"/>
          </a:xfrm>
          <a:prstGeom prst="rect">
            <a:avLst/>
          </a:prstGeom>
          <a:solidFill>
            <a:srgbClr val="E8C87A"/>
          </a:solidFill>
          <a:ln w="12700">
            <a:solidFill>
              <a:srgbClr val="E8C8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79476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70448" y="379476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· Austin · Dallas · San Antonio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4041648"/>
            <a:ext cx="54864" cy="201168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404164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70448" y="404164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 · Orlando · Tampa · Duty Free Intl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4288536"/>
            <a:ext cx="54864" cy="201168"/>
          </a:xfrm>
          <a:prstGeom prst="rect">
            <a:avLst/>
          </a:prstGeom>
          <a:solidFill>
            <a:srgbClr val="E8C87A"/>
          </a:solidFill>
          <a:ln w="12700">
            <a:solidFill>
              <a:srgbClr val="E8C8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428853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Nevada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70448" y="428853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Vegas Hospitality · Casinos · Resorts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4535424"/>
            <a:ext cx="54864" cy="201168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01184" y="453542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70448" y="453542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Dining · Duty Free · Cruise Lines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F"/>
          </a:solidFill>
          <a:ln w="12700">
            <a:solidFill>
              <a:srgbClr val="080B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53035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Premium Expressions — One Unified Brand Vision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228600" y="1152144"/>
            <a:ext cx="8686800" cy="0"/>
          </a:xfrm>
          <a:prstGeom prst="line">
            <a:avLst/>
          </a:prstGeom>
          <a:noFill/>
          <a:ln w="19050">
            <a:solidFill>
              <a:srgbClr val="C9A5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98448"/>
            <a:ext cx="2057400" cy="3657600"/>
          </a:xfrm>
          <a:prstGeom prst="rect">
            <a:avLst/>
          </a:prstGeom>
          <a:solidFill>
            <a:srgbClr val="0A0C10"/>
          </a:solidFill>
          <a:ln w="15240">
            <a:solidFill>
              <a:srgbClr val="D0D8E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pic>
        <p:nvPicPr>
          <p:cNvPr id="8" name="Image 0" descr="/home/claude/bottles/blan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371600"/>
            <a:ext cx="1783080" cy="1508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28600" y="2907792"/>
            <a:ext cx="2057400" cy="36576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2971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BLANCO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4320" y="3236976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20040" y="3419856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clear. Agave-forward. Ultra-smooth. The entry to the Don Azul experience — unaged, pure Jalisco blue agave.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4320" y="4133088"/>
            <a:ext cx="1965960" cy="658368"/>
          </a:xfrm>
          <a:prstGeom prst="rect">
            <a:avLst/>
          </a:prstGeom>
          <a:solidFill>
            <a:srgbClr val="060809"/>
          </a:solidFill>
          <a:ln w="5080">
            <a:solidFill>
              <a:srgbClr val="D0D8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17880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5C"/>
                </a:solidFill>
              </a:rPr>
              <a:t>DIST </a:t>
            </a:r>
            <a:pPr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$39.99   </a:t>
            </a:r>
            <a:pPr indent="0" marL="0">
              <a:buNone/>
            </a:pPr>
            <a:r>
              <a:rPr lang="en-US" sz="800" b="1" dirty="0">
                <a:solidFill>
                  <a:srgbClr val="C9A55C"/>
                </a:solidFill>
              </a:rPr>
              <a:t>MSRP </a:t>
            </a:r>
            <a:pPr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$79.99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20040" y="44531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50%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423160" y="1298448"/>
            <a:ext cx="2057400" cy="3657600"/>
          </a:xfrm>
          <a:prstGeom prst="rect">
            <a:avLst/>
          </a:prstGeom>
          <a:solidFill>
            <a:srgbClr val="0A0C10"/>
          </a:solidFill>
          <a:ln w="15240">
            <a:solidFill>
              <a:srgbClr val="8B1A1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pic>
        <p:nvPicPr>
          <p:cNvPr id="17" name="Image 1" descr="/home/claude/bottles/reposad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60320" y="1371600"/>
            <a:ext cx="1783080" cy="150876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423160" y="2907792"/>
            <a:ext cx="20574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468880" y="2971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REPOSADO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468880" y="3236976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2514600" y="3419856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month oak aging. Rich, amber complexity. The brand's flagship expression — perfectly balanced for cocktails and sipping.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2468880" y="4133088"/>
            <a:ext cx="1965960" cy="658368"/>
          </a:xfrm>
          <a:prstGeom prst="rect">
            <a:avLst/>
          </a:prstGeom>
          <a:solidFill>
            <a:srgbClr val="060809"/>
          </a:solidFill>
          <a:ln w="5080">
            <a:solidFill>
              <a:srgbClr val="8B1A1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514600" y="417880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5C"/>
                </a:solidFill>
              </a:rPr>
              <a:t>DIST </a:t>
            </a:r>
            <a:pPr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$44.99   </a:t>
            </a:r>
            <a:pPr indent="0" marL="0">
              <a:buNone/>
            </a:pPr>
            <a:r>
              <a:rPr lang="en-US" sz="800" b="1" dirty="0">
                <a:solidFill>
                  <a:srgbClr val="C9A55C"/>
                </a:solidFill>
              </a:rPr>
              <a:t>MSRP </a:t>
            </a:r>
            <a:pPr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$99.99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2514600" y="44531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55%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4617720" y="1298448"/>
            <a:ext cx="2057400" cy="3657600"/>
          </a:xfrm>
          <a:prstGeom prst="rect">
            <a:avLst/>
          </a:prstGeom>
          <a:solidFill>
            <a:srgbClr val="0A0C10"/>
          </a:solidFill>
          <a:ln w="15240">
            <a:solidFill>
              <a:srgbClr val="1E57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pic>
        <p:nvPicPr>
          <p:cNvPr id="26" name="Image 2" descr="/home/claude/bottles/anej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54880" y="1371600"/>
            <a:ext cx="1783080" cy="150876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617720" y="2907792"/>
            <a:ext cx="2057400" cy="36576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663440" y="2971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AÑEJO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4663440" y="3236976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4709160" y="3419856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month aging in American oak. Deep amber. Notes of vanilla, caramel, and dark agave. Ultra-premium sipping tequila.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4663440" y="4133088"/>
            <a:ext cx="1965960" cy="658368"/>
          </a:xfrm>
          <a:prstGeom prst="rect">
            <a:avLst/>
          </a:prstGeom>
          <a:solidFill>
            <a:srgbClr val="060809"/>
          </a:solidFill>
          <a:ln w="5080">
            <a:solidFill>
              <a:srgbClr val="1E5799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709160" y="417880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5C"/>
                </a:solidFill>
              </a:rPr>
              <a:t>DIST </a:t>
            </a:r>
            <a:pPr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$58.99   </a:t>
            </a:r>
            <a:pPr indent="0" marL="0">
              <a:buNone/>
            </a:pPr>
            <a:r>
              <a:rPr lang="en-US" sz="800" b="1" dirty="0">
                <a:solidFill>
                  <a:srgbClr val="C9A55C"/>
                </a:solidFill>
              </a:rPr>
              <a:t>MSRP </a:t>
            </a:r>
            <a:pPr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$129.99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4709160" y="44531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55%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6812280" y="1298448"/>
            <a:ext cx="2057400" cy="3657600"/>
          </a:xfrm>
          <a:prstGeom prst="rect">
            <a:avLst/>
          </a:prstGeom>
          <a:solidFill>
            <a:srgbClr val="0A0C10"/>
          </a:solidFill>
          <a:ln w="1524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pic>
        <p:nvPicPr>
          <p:cNvPr id="35" name="Image 3" descr="/home/claude/bottles/reserv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49440" y="1371600"/>
            <a:ext cx="1783080" cy="1508760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6812280" y="2907792"/>
            <a:ext cx="2057400" cy="3657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858000" y="2971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6858000" y="3236976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Reposado Reserve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6903720" y="3419856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pinnacle. Extended aging, exclusive small-batch production. Positioned to compete with ultra-premium brands above $130.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6858000" y="4133088"/>
            <a:ext cx="1965960" cy="658368"/>
          </a:xfrm>
          <a:prstGeom prst="rect">
            <a:avLst/>
          </a:prstGeom>
          <a:solidFill>
            <a:srgbClr val="060809"/>
          </a:solidFill>
          <a:ln w="5080">
            <a:solidFill>
              <a:srgbClr val="2A2A2A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903720" y="417880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5C"/>
                </a:solidFill>
              </a:rPr>
              <a:t>DIST </a:t>
            </a:r>
            <a:pPr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$76.99   </a:t>
            </a:r>
            <a:pPr indent="0" marL="0">
              <a:buNone/>
            </a:pPr>
            <a:r>
              <a:rPr lang="en-US" sz="800" b="1" dirty="0">
                <a:solidFill>
                  <a:srgbClr val="C9A55C"/>
                </a:solidFill>
              </a:rPr>
              <a:t>MSRP </a:t>
            </a:r>
            <a:pPr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$139.99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6903720" y="44531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45%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#1 Amatitan  ·  Plant #2 Amatitan  ·  Plant #3 Ayotlan — All Jalisco, Mexico  ·  Prices verified by Kroger, Total Wine, Royal Caribbean, Norwegian Cruise Line, Gallo, Publix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F"/>
          </a:solidFill>
          <a:ln w="12700">
            <a:solidFill>
              <a:srgbClr val="080B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53035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Most Brands Spend Years &amp; Millions to Build — Don Azul Already Has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152144"/>
            <a:ext cx="8686800" cy="0"/>
          </a:xfrm>
          <a:prstGeom prst="line">
            <a:avLst/>
          </a:prstGeom>
          <a:noFill/>
          <a:ln w="19050">
            <a:solidFill>
              <a:srgbClr val="C9A5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325880"/>
            <a:ext cx="5394960" cy="438912"/>
          </a:xfrm>
          <a:prstGeom prst="rect">
            <a:avLst/>
          </a:prstGeom>
          <a:solidFill>
            <a:srgbClr val="0A1810"/>
          </a:solidFill>
          <a:ln w="5080">
            <a:solidFill>
              <a:srgbClr val="1B4D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4447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4264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137160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RFC-Qualified Manufacturer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1591056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registered, legally compliant Mexican entity — no risk of production shutdown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1828800"/>
            <a:ext cx="5394960" cy="438912"/>
          </a:xfrm>
          <a:prstGeom prst="rect">
            <a:avLst/>
          </a:prstGeom>
          <a:solidFill>
            <a:srgbClr val="0A1810"/>
          </a:solidFill>
          <a:ln w="5080">
            <a:solidFill>
              <a:srgbClr val="1B4D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94767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9293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" y="187452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/ CRT Certification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2093976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production plants are Norma Oficial Mexicana and CRT certified — non-negotiable for import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" y="2331720"/>
            <a:ext cx="5394960" cy="438912"/>
          </a:xfrm>
          <a:prstGeom prst="rect">
            <a:avLst/>
          </a:prstGeom>
          <a:solidFill>
            <a:srgbClr val="0A1810"/>
          </a:solidFill>
          <a:ln w="5080">
            <a:solidFill>
              <a:srgbClr val="1B4D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45059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4323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" y="237744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Production Facilities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" y="2596896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in Amatitan (×2) and Ayotlan, Jalisco — supply redundancy protects against single-source risk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2834640"/>
            <a:ext cx="5394960" cy="438912"/>
          </a:xfrm>
          <a:prstGeom prst="rect">
            <a:avLst/>
          </a:prstGeom>
          <a:solidFill>
            <a:srgbClr val="0A1810"/>
          </a:solidFill>
          <a:ln w="5080">
            <a:solidFill>
              <a:srgbClr val="1B4D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295351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9352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88036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Pricing Structure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3099816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&amp; MSRP pricing reviewed and approved by Kroger, Total Wine, Royal Caribbean, Gallo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" y="3337560"/>
            <a:ext cx="5394960" cy="438912"/>
          </a:xfrm>
          <a:prstGeom prst="rect">
            <a:avLst/>
          </a:prstGeom>
          <a:solidFill>
            <a:srgbClr val="0A1810"/>
          </a:solidFill>
          <a:ln w="5080">
            <a:solidFill>
              <a:srgbClr val="1B4D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" y="345643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4381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" y="338328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4-SKU Portfolio Ready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" y="3602736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Blanco, Reposado, Añejo, Reserva — full shelf presence from $34 to $140 MSRP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3840480"/>
            <a:ext cx="5394960" cy="438912"/>
          </a:xfrm>
          <a:prstGeom prst="rect">
            <a:avLst/>
          </a:prstGeom>
          <a:solidFill>
            <a:srgbClr val="0A1810"/>
          </a:solidFill>
          <a:ln w="5080">
            <a:solidFill>
              <a:srgbClr val="1B4D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7472" y="39593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9410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8368" y="388620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Import Pathway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8368" y="4105656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Bank-to-bank SWIFT to Don Azul Group LLC (Florida, USA) — clean U.S. corporate structure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8600" y="4343400"/>
            <a:ext cx="5394960" cy="438912"/>
          </a:xfrm>
          <a:prstGeom prst="rect">
            <a:avLst/>
          </a:prstGeom>
          <a:solidFill>
            <a:srgbClr val="0A1810"/>
          </a:solidFill>
          <a:ln w="5080">
            <a:solidFill>
              <a:srgbClr val="1B4D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47472" y="446227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44439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8368" y="438912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Network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8368" y="4608576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Mexausa Food Group: active Mexico–US–LATAM corridor, 3,000+ buyer relationships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52160" y="12801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COMPARE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852160" y="1572768"/>
            <a:ext cx="3108960" cy="411480"/>
          </a:xfrm>
          <a:prstGeom prst="rect">
            <a:avLst/>
          </a:prstGeom>
          <a:solidFill>
            <a:srgbClr val="1A1200"/>
          </a:solidFill>
          <a:ln w="3810">
            <a:solidFill>
              <a:srgbClr val="1A1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25312" y="166420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242048" y="16642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Azul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092440" y="16642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Startup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852160" y="2011680"/>
            <a:ext cx="3108960" cy="411480"/>
          </a:xfrm>
          <a:prstGeom prst="rect">
            <a:avLst/>
          </a:prstGeom>
          <a:solidFill>
            <a:srgbClr val="0A0D08"/>
          </a:solidFill>
          <a:ln w="3810">
            <a:solidFill>
              <a:srgbClr val="1A1A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25312" y="21031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Jalisco Mfg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42048" y="21031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92440" y="21031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852160" y="2450592"/>
            <a:ext cx="3108960" cy="411480"/>
          </a:xfrm>
          <a:prstGeom prst="rect">
            <a:avLst/>
          </a:prstGeom>
          <a:solidFill>
            <a:srgbClr val="0D100A"/>
          </a:solidFill>
          <a:ln w="3810">
            <a:solidFill>
              <a:srgbClr val="1A1A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25312" y="254203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CRT/NOM Cert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42048" y="25420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092440" y="25420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852160" y="2889504"/>
            <a:ext cx="3108960" cy="411480"/>
          </a:xfrm>
          <a:prstGeom prst="rect">
            <a:avLst/>
          </a:prstGeom>
          <a:solidFill>
            <a:srgbClr val="0A0D08"/>
          </a:solidFill>
          <a:ln w="3810">
            <a:solidFill>
              <a:srgbClr val="1A1A1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25312" y="298094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4-SKU Ready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242048" y="298094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092440" y="298094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852160" y="3328416"/>
            <a:ext cx="3108960" cy="411480"/>
          </a:xfrm>
          <a:prstGeom prst="rect">
            <a:avLst/>
          </a:prstGeom>
          <a:solidFill>
            <a:srgbClr val="0D100A"/>
          </a:solidFill>
          <a:ln w="3810">
            <a:solidFill>
              <a:srgbClr val="1A1A1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25312" y="341985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Pricing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242048" y="34198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092440" y="34198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852160" y="3767328"/>
            <a:ext cx="3108960" cy="411480"/>
          </a:xfrm>
          <a:prstGeom prst="rect">
            <a:avLst/>
          </a:prstGeom>
          <a:solidFill>
            <a:srgbClr val="0A0D08"/>
          </a:solidFill>
          <a:ln w="3810">
            <a:solidFill>
              <a:srgbClr val="1A1A1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25312" y="38587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Structure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242048" y="38587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092440" y="38587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852160" y="4206240"/>
            <a:ext cx="3108960" cy="411480"/>
          </a:xfrm>
          <a:prstGeom prst="rect">
            <a:avLst/>
          </a:prstGeom>
          <a:solidFill>
            <a:srgbClr val="0D100A"/>
          </a:solidFill>
          <a:ln w="3810">
            <a:solidFill>
              <a:srgbClr val="1A1A1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25312" y="4297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Network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242048" y="42976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092440" y="42976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F"/>
          </a:solidFill>
          <a:ln w="12700">
            <a:solidFill>
              <a:srgbClr val="080B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53035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Numbers — Verified Pricing as of May 2026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228600" y="1152144"/>
            <a:ext cx="8686800" cy="0"/>
          </a:xfrm>
          <a:prstGeom prst="line">
            <a:avLst/>
          </a:prstGeom>
          <a:noFill/>
          <a:ln w="19050">
            <a:solidFill>
              <a:srgbClr val="C9A5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80160"/>
            <a:ext cx="8686800" cy="347472"/>
          </a:xfrm>
          <a:prstGeom prst="rect">
            <a:avLst/>
          </a:prstGeom>
          <a:solidFill>
            <a:srgbClr val="1A1200"/>
          </a:solidFill>
          <a:ln w="10160">
            <a:solidFill>
              <a:srgbClr val="C9A5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167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148840" y="13167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0" y="13167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Btls/Case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51960" y="131673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Dist/Bottle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40680" y="131673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MSRP/Bottle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629400" y="13167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Dist/Case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680960" y="13167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1664208"/>
            <a:ext cx="8686800" cy="246888"/>
          </a:xfrm>
          <a:prstGeom prst="rect">
            <a:avLst/>
          </a:prstGeom>
          <a:solidFill>
            <a:srgbClr val="1A0E00"/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70078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i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AZUL PREMIUM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48840" y="170078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00400" y="170078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51960" y="170078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40680" y="170078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29400" y="170078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680960" y="170078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" y="1920240"/>
            <a:ext cx="8686800" cy="246888"/>
          </a:xfrm>
          <a:prstGeom prst="rect">
            <a:avLst/>
          </a:prstGeom>
          <a:solidFill>
            <a:srgbClr val="090D06"/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95681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 Premium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48840" y="195681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750ml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0" y="195681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251960" y="195681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$39.99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40680" y="195681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$79.99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29400" y="195681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$239.94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680960" y="195681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8600" y="2176272"/>
            <a:ext cx="8686800" cy="246888"/>
          </a:xfrm>
          <a:prstGeom prst="rect">
            <a:avLst/>
          </a:prstGeom>
          <a:solidFill>
            <a:srgbClr val="0C1008"/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21284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Reposado Premium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148840" y="221284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750ml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00400" y="221284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251960" y="221284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$44.99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40680" y="221284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$99.99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629400" y="221284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$269.94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680960" y="221284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" y="2432304"/>
            <a:ext cx="8686800" cy="246888"/>
          </a:xfrm>
          <a:prstGeom prst="rect">
            <a:avLst/>
          </a:prstGeom>
          <a:solidFill>
            <a:srgbClr val="090D06"/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24688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Añejo Premium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148840" y="2468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750ml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200400" y="2468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251960" y="2468880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$58.99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440680" y="2468880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$129.99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629400" y="2468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$353.94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680960" y="2468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28600" y="2688336"/>
            <a:ext cx="8686800" cy="246888"/>
          </a:xfrm>
          <a:prstGeom prst="rect">
            <a:avLst/>
          </a:prstGeom>
          <a:solidFill>
            <a:srgbClr val="0C1008"/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272491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Reposado Reserva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148840" y="27249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750ml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200400" y="27249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251960" y="272491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$76.99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440680" y="272491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$139.99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629400" y="27249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$461.94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680960" y="27249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28600" y="2944368"/>
            <a:ext cx="8686800" cy="246888"/>
          </a:xfrm>
          <a:prstGeom prst="rect">
            <a:avLst/>
          </a:prstGeom>
          <a:solidFill>
            <a:srgbClr val="1A0E00"/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298094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i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GENERACION XXI ORGANIC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148840" y="29809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200400" y="29809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251960" y="298094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440680" y="298094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629400" y="29809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680960" y="29809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28600" y="3200400"/>
            <a:ext cx="8686800" cy="246888"/>
          </a:xfrm>
          <a:prstGeom prst="rect">
            <a:avLst/>
          </a:prstGeom>
          <a:solidFill>
            <a:srgbClr val="0C1008"/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323697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 Organico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148840" y="32369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750ml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3200400" y="32369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251960" y="323697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$40.89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440680" y="323697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$69.99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629400" y="32369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$245.34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680960" y="32369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28600" y="3456432"/>
            <a:ext cx="8686800" cy="246888"/>
          </a:xfrm>
          <a:prstGeom prst="rect">
            <a:avLst/>
          </a:prstGeom>
          <a:solidFill>
            <a:srgbClr val="090D06"/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" y="349300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Reposado Organico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2148840" y="34930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750ml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200400" y="34930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251960" y="349300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$47.99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440680" y="349300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$81.99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629400" y="34930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$287.94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680960" y="34930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28600" y="3712464"/>
            <a:ext cx="8686800" cy="246888"/>
          </a:xfrm>
          <a:prstGeom prst="rect">
            <a:avLst/>
          </a:prstGeom>
          <a:solidFill>
            <a:srgbClr val="0C1008"/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4320" y="37490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Añejo Organico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2148840" y="3749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750ml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3200400" y="3749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251960" y="3749040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$58.99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440680" y="3749040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$98.99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629400" y="3749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$353.94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7680960" y="3749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228600" y="3968496"/>
            <a:ext cx="8686800" cy="246888"/>
          </a:xfrm>
          <a:prstGeom prst="rect">
            <a:avLst/>
          </a:prstGeom>
          <a:solidFill>
            <a:srgbClr val="1A0E00"/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74320" y="400507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i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AZUL MAYA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2148840" y="40050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3200400" y="40050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251960" y="400507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5440680" y="400507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629400" y="40050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7680960" y="40050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228600" y="4224528"/>
            <a:ext cx="8686800" cy="246888"/>
          </a:xfrm>
          <a:prstGeom prst="rect">
            <a:avLst/>
          </a:prstGeom>
          <a:solidFill>
            <a:srgbClr val="0C1008"/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4320" y="426110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 Maya 100% Agave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2148840" y="426110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750ml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3200400" y="426110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4251960" y="426110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$18.99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5440680" y="426110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$33.99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629400" y="426110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$227.88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7680960" y="426110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228600" y="4480560"/>
            <a:ext cx="8686800" cy="246888"/>
          </a:xfrm>
          <a:prstGeom prst="rect">
            <a:avLst/>
          </a:prstGeom>
          <a:solidFill>
            <a:srgbClr val="090D06"/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74320" y="451713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Reposado Maya 100% Agave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2148840" y="451713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750ml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3200400" y="451713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4251960" y="451713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5440680" y="451713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$35.99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6629400" y="451713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$239.88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7680960" y="451713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228600" y="4873752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Don Azul Group LLC — Distributor pricing sheet May 13, 2026. Ex-works Amatitan &amp; Ayotlan, Jalisco, Mexico.  ·  Pricing reviewed by Kroger, Total Wine, Royal Caribbean, Norwegian Cruise Line, Gallo, Publix.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F"/>
          </a:solidFill>
          <a:ln w="12700">
            <a:solidFill>
              <a:srgbClr val="080B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53035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U.S. Expansion — California to National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228600" y="1152144"/>
            <a:ext cx="8686800" cy="0"/>
          </a:xfrm>
          <a:prstGeom prst="line">
            <a:avLst/>
          </a:prstGeom>
          <a:noFill/>
          <a:ln w="19050">
            <a:solidFill>
              <a:srgbClr val="C9A5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98448"/>
            <a:ext cx="2743200" cy="3566160"/>
          </a:xfrm>
          <a:prstGeom prst="rect">
            <a:avLst/>
          </a:prstGeom>
          <a:solidFill>
            <a:srgbClr val="141B24"/>
          </a:solidFill>
          <a:ln w="6350">
            <a:solidFill>
              <a:srgbClr val="C9A5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502920" cy="502920"/>
          </a:xfrm>
          <a:prstGeom prst="ellipse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4173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ONE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63677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— 2026/2027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California Launch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2350008"/>
            <a:ext cx="2560320" cy="0"/>
          </a:xfrm>
          <a:prstGeom prst="line">
            <a:avLst/>
          </a:prstGeom>
          <a:noFill/>
          <a:ln w="19050">
            <a:solidFill>
              <a:srgbClr val="C9A5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4231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0040" y="26334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San Diego / Baja Corridor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2834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Los Angeles / Orange County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30358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Monterey County / Salinas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323697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Bay Area Fine Dining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34564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20040" y="365760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Independent liquor stores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0040" y="384048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Premium restaurant accounts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0040" y="402336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Agricultural industry events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0040" y="420624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Hispanic consumer events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4425696"/>
            <a:ext cx="2560320" cy="347472"/>
          </a:xfrm>
          <a:prstGeom prst="rect">
            <a:avLst/>
          </a:prstGeom>
          <a:solidFill>
            <a:srgbClr val="0A1408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453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25,000–50,000 Cases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72968" y="1298448"/>
            <a:ext cx="2743200" cy="3566160"/>
          </a:xfrm>
          <a:prstGeom prst="rect">
            <a:avLst/>
          </a:prstGeom>
          <a:solidFill>
            <a:srgbClr val="141B24"/>
          </a:solidFill>
          <a:ln w="6350">
            <a:solidFill>
              <a:srgbClr val="E8C8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64408" y="1389888"/>
            <a:ext cx="502920" cy="502920"/>
          </a:xfrm>
          <a:prstGeom prst="ellipse">
            <a:avLst/>
          </a:prstGeom>
          <a:solidFill>
            <a:srgbClr val="E8C87A"/>
          </a:solidFill>
          <a:ln w="12700">
            <a:solidFill>
              <a:srgbClr val="E8C8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1389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858768" y="14173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TWO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58768" y="163677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— 2027/2028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64408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Texas &amp; Southwest Expansion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264408" y="2350008"/>
            <a:ext cx="2560320" cy="0"/>
          </a:xfrm>
          <a:prstGeom prst="line">
            <a:avLst/>
          </a:prstGeom>
          <a:noFill/>
          <a:ln w="19050">
            <a:solidFill>
              <a:srgbClr val="C9A5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4408" y="24231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8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264408" y="26334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Houston / Austin / Dallas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64408" y="2834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San Antonio / El Paso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64408" y="30358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Phoenix / Las Vegas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64408" y="323697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Florida — Miami / Orlando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64408" y="34564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8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264408" y="365760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Regional distributor agreements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64408" y="384048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Total Wine partnership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64408" y="402336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Kroger / H-E-B program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64408" y="420624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Casino &amp; hospitality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64408" y="4425696"/>
            <a:ext cx="2560320" cy="347472"/>
          </a:xfrm>
          <a:prstGeom prst="rect">
            <a:avLst/>
          </a:prstGeom>
          <a:solidFill>
            <a:srgbClr val="0A1408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64408" y="4453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75,000–125,000 Cases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17336" y="1298448"/>
            <a:ext cx="2743200" cy="3566160"/>
          </a:xfrm>
          <a:prstGeom prst="rect">
            <a:avLst/>
          </a:prstGeom>
          <a:solidFill>
            <a:srgbClr val="141B24"/>
          </a:solidFill>
          <a:ln w="6350">
            <a:solidFill>
              <a:srgbClr val="C9A5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08776" y="1389888"/>
            <a:ext cx="502920" cy="502920"/>
          </a:xfrm>
          <a:prstGeom prst="ellipse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08776" y="1389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03136" y="14173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THREE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03136" y="163677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3+ — 2028+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08776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&amp; International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208776" y="2350008"/>
            <a:ext cx="2560320" cy="0"/>
          </a:xfrm>
          <a:prstGeom prst="line">
            <a:avLst/>
          </a:prstGeom>
          <a:noFill/>
          <a:ln w="19050">
            <a:solidFill>
              <a:srgbClr val="C9A5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08776" y="24231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208776" y="26334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Nationwide U.S. Distribution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208776" y="2834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Duty Free — U.S. Airports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208776" y="30358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Cruise Lines (Royal Caribbean, NCL)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208776" y="323697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European &amp; LATAM Markets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208776" y="34564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208776" y="365760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National distributor partner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208776" y="384048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Duty Free of Americas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208776" y="402336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Direct hospitality contracts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208776" y="420624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Export to Europe/Asia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208776" y="4425696"/>
            <a:ext cx="2560320" cy="347472"/>
          </a:xfrm>
          <a:prstGeom prst="rect">
            <a:avLst/>
          </a:prstGeom>
          <a:solidFill>
            <a:srgbClr val="0A1408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08776" y="4453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200,000+ Cases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F"/>
          </a:solidFill>
          <a:ln w="12700">
            <a:solidFill>
              <a:srgbClr val="080B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53035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Potential Based on Verified Distributor Economics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228600" y="1152144"/>
            <a:ext cx="8686800" cy="0"/>
          </a:xfrm>
          <a:prstGeom prst="line">
            <a:avLst/>
          </a:prstGeom>
          <a:noFill/>
          <a:ln w="19050">
            <a:solidFill>
              <a:srgbClr val="C9A55C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228600" y="1298448"/>
          <a:ext cx="51206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577840" y="12984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(Conservative Case)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577840" y="1627632"/>
            <a:ext cx="3337560" cy="292608"/>
          </a:xfrm>
          <a:prstGeom prst="rect">
            <a:avLst/>
          </a:prstGeom>
          <a:solidFill>
            <a:srgbClr val="1A1200"/>
          </a:solidFill>
          <a:ln w="7620">
            <a:solidFill>
              <a:srgbClr val="C9A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05272" y="166420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153912" y="166420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675120" y="1664208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287768" y="1664208"/>
            <a:ext cx="667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982712" y="166420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GM%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577840" y="1956816"/>
            <a:ext cx="3337560" cy="438912"/>
          </a:xfrm>
          <a:prstGeom prst="rect">
            <a:avLst/>
          </a:prstGeom>
          <a:solidFill>
            <a:srgbClr val="0D1008"/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05272" y="2066544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53912" y="2066544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cases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675120" y="2066544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$3.0M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287768" y="2066544"/>
            <a:ext cx="667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$1.35M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982712" y="206654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577840" y="2432304"/>
            <a:ext cx="3337560" cy="438912"/>
          </a:xfrm>
          <a:prstGeom prst="rect">
            <a:avLst/>
          </a:prstGeom>
          <a:solidFill>
            <a:srgbClr val="0A0D06"/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05272" y="254203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153912" y="254203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125K cases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675120" y="254203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$7.5M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287768" y="2542032"/>
            <a:ext cx="667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$3.4M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982712" y="25420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577840" y="2907792"/>
            <a:ext cx="3337560" cy="438912"/>
          </a:xfrm>
          <a:prstGeom prst="rect">
            <a:avLst/>
          </a:prstGeom>
          <a:solidFill>
            <a:srgbClr val="0D1008"/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05272" y="301752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153912" y="301752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250K cases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675120" y="301752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$15.0M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287768" y="3017520"/>
            <a:ext cx="667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$6.75M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982712" y="301752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577840" y="3383280"/>
            <a:ext cx="3337560" cy="438912"/>
          </a:xfrm>
          <a:prstGeom prst="rect">
            <a:avLst/>
          </a:prstGeom>
          <a:solidFill>
            <a:srgbClr val="0A0D06"/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05272" y="349300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153912" y="349300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450K cases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675120" y="3493008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$28.0M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87768" y="3493008"/>
            <a:ext cx="667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$12.6M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7982712" y="349300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5577840" y="3858768"/>
            <a:ext cx="3337560" cy="438912"/>
          </a:xfrm>
          <a:prstGeom prst="rect">
            <a:avLst/>
          </a:prstGeom>
          <a:solidFill>
            <a:srgbClr val="0D1008"/>
          </a:solidFill>
          <a:ln w="2540">
            <a:solidFill>
              <a:srgbClr val="1A1A1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605272" y="3968496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6153912" y="3968496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750K cases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675120" y="3968496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$48.0M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7287768" y="3968496"/>
            <a:ext cx="667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$21.6M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982712" y="39684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228600" y="42976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avg selling price $60/case blended across SKUs. Gross margin 45–55% by expression. Conservative case — 40ft container = 20 pallets × 360 cases.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F"/>
          </a:solidFill>
          <a:ln w="12700">
            <a:solidFill>
              <a:srgbClr val="080B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438912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$5M — $10M Growth Capital Allocation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69264"/>
            <a:ext cx="8686800" cy="0"/>
          </a:xfrm>
          <a:prstGeom prst="line">
            <a:avLst/>
          </a:prstGeom>
          <a:noFill/>
          <a:ln w="19050">
            <a:solidFill>
              <a:srgbClr val="C9A5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78992"/>
            <a:ext cx="2944368" cy="347472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133856"/>
            <a:ext cx="2871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1078992"/>
            <a:ext cx="2103120" cy="347472"/>
          </a:xfrm>
          <a:prstGeom prst="rect">
            <a:avLst/>
          </a:prstGeom>
          <a:solidFill>
            <a:srgbClr val="E8C87A"/>
          </a:solidFill>
          <a:ln w="12700">
            <a:solidFill>
              <a:srgbClr val="E8C8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46704" y="1133856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13248" y="1078992"/>
            <a:ext cx="1261872" cy="34747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9824" y="113385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1078992"/>
            <a:ext cx="841248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1696" y="1133856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16368" y="1078992"/>
            <a:ext cx="841248" cy="34747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2944" y="1133856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57616" y="1078992"/>
            <a:ext cx="420624" cy="347472"/>
          </a:xfrm>
          <a:prstGeom prst="rect">
            <a:avLst/>
          </a:prstGeom>
          <a:solidFill>
            <a:srgbClr val="A8B4C0"/>
          </a:solidFill>
          <a:ln w="12700">
            <a:solidFill>
              <a:srgbClr val="A8B4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1536192"/>
            <a:ext cx="4206240" cy="1051560"/>
          </a:xfrm>
          <a:prstGeom prst="rect">
            <a:avLst/>
          </a:prstGeom>
          <a:solidFill>
            <a:srgbClr val="141B24"/>
          </a:solidFill>
          <a:ln w="7620">
            <a:solidFill>
              <a:srgbClr val="C9A5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1536192"/>
            <a:ext cx="73152" cy="105156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737360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5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61288" y="1627632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Production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61288" y="1920240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containers, 3 SKU families. 60% on PO approval, 40% before loading.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1536192"/>
            <a:ext cx="4206240" cy="1051560"/>
          </a:xfrm>
          <a:prstGeom prst="rect">
            <a:avLst/>
          </a:prstGeom>
          <a:solidFill>
            <a:srgbClr val="141B24"/>
          </a:solidFill>
          <a:ln w="7620">
            <a:solidFill>
              <a:srgbClr val="E8C8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536192"/>
            <a:ext cx="73152" cy="1051560"/>
          </a:xfrm>
          <a:prstGeom prst="rect">
            <a:avLst/>
          </a:prstGeom>
          <a:solidFill>
            <a:srgbClr val="E8C87A"/>
          </a:solidFill>
          <a:ln w="12700">
            <a:solidFill>
              <a:srgbClr val="E8C8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737360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96128" y="1627632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Distribution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96128" y="1920240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sales director, CA &amp; TX market managers, distributor agreements.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2670048"/>
            <a:ext cx="4206240" cy="1051560"/>
          </a:xfrm>
          <a:prstGeom prst="rect">
            <a:avLst/>
          </a:prstGeom>
          <a:solidFill>
            <a:srgbClr val="141B24"/>
          </a:solidFill>
          <a:ln w="7620">
            <a:solidFill>
              <a:srgbClr val="E8B84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670048"/>
            <a:ext cx="73152" cy="10515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871216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161288" y="2761488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Marketing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61288" y="3054096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 photography, brand activation, social, trade events, hospitality.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2670048"/>
            <a:ext cx="4206240" cy="1051560"/>
          </a:xfrm>
          <a:prstGeom prst="rect">
            <a:avLst/>
          </a:prstGeom>
          <a:solidFill>
            <a:srgbClr val="141B24"/>
          </a:solidFill>
          <a:ln w="762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670048"/>
            <a:ext cx="7315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871216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596128" y="2761488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Infrastructure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96128" y="3054096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warehouse, bonded logistics, import compliance, TTB approvals.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" y="3803904"/>
            <a:ext cx="4206240" cy="1051560"/>
          </a:xfrm>
          <a:prstGeom prst="rect">
            <a:avLst/>
          </a:prstGeom>
          <a:solidFill>
            <a:srgbClr val="141B24"/>
          </a:solidFill>
          <a:ln w="7620">
            <a:solidFill>
              <a:srgbClr val="5B9BD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28600" y="3803904"/>
            <a:ext cx="73152" cy="10515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005072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161288" y="3895344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61288" y="4187952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operating runway. Logistics, freight, duties, cash-flow timing.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3803904"/>
            <a:ext cx="4206240" cy="1051560"/>
          </a:xfrm>
          <a:prstGeom prst="rect">
            <a:avLst/>
          </a:prstGeom>
          <a:solidFill>
            <a:srgbClr val="141B24"/>
          </a:solidFill>
          <a:ln w="7620">
            <a:solidFill>
              <a:srgbClr val="A8B4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3803904"/>
            <a:ext cx="73152" cy="1051560"/>
          </a:xfrm>
          <a:prstGeom prst="rect">
            <a:avLst/>
          </a:prstGeom>
          <a:solidFill>
            <a:srgbClr val="A8B4C0"/>
          </a:solidFill>
          <a:ln w="12700">
            <a:solidFill>
              <a:srgbClr val="A8B4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4005072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B4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5596128" y="3895344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IP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596128" y="4187952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Trademark filings, import agreements, investor documentation, RFC/CRT.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28600" y="4919472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RAISE: $5,000,000 — $10,000,000 USD  ·  Mexausa Food Group, Inc.  ·  mexausafg.com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F"/>
          </a:solidFill>
          <a:ln w="12700">
            <a:solidFill>
              <a:srgbClr val="080B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&amp; STRATEGIC ASSETS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53035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Cross-Border Expertise. Built Infrastructure. Ready to Scale.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152144"/>
            <a:ext cx="8686800" cy="0"/>
          </a:xfrm>
          <a:prstGeom prst="line">
            <a:avLst/>
          </a:prstGeom>
          <a:noFill/>
          <a:ln w="19050">
            <a:solidFill>
              <a:srgbClr val="C9A5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98448"/>
            <a:ext cx="3840480" cy="3474720"/>
          </a:xfrm>
          <a:prstGeom prst="rect">
            <a:avLst/>
          </a:prstGeom>
          <a:solidFill>
            <a:srgbClr val="141B24"/>
          </a:solidFill>
          <a:ln w="6350">
            <a:solidFill>
              <a:srgbClr val="C9A5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914400" cy="914400"/>
          </a:xfrm>
          <a:prstGeom prst="ellipse">
            <a:avLst/>
          </a:prstGeom>
          <a:solidFill>
            <a:srgbClr val="1A1200"/>
          </a:solidFill>
          <a:ln w="19050">
            <a:solidFill>
              <a:srgbClr val="C9A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5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SG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0876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Saul Garcia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18562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Capital Representative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08760" y="20848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Mexausa Food Group, Inc.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3566160" cy="0"/>
          </a:xfrm>
          <a:prstGeom prst="line">
            <a:avLst/>
          </a:prstGeom>
          <a:noFill/>
          <a:ln w="19050">
            <a:solidFill>
              <a:srgbClr val="C9A5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78608"/>
            <a:ext cx="45720" cy="201168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5786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trade — U.S. · Mexico · LATAM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45720" cy="201168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8803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NMLS #337526 — Mortgage Banking &amp; Real Estate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182112"/>
            <a:ext cx="45720" cy="201168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1821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intelligence platform (AuditDNA)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483864"/>
            <a:ext cx="45720" cy="201168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4838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 verified buyer/grower network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785616"/>
            <a:ext cx="45720" cy="201168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78561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SAM.gov registered — Federal contractor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087368"/>
            <a:ext cx="45720" cy="201168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40873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Agri-Maxx wholesale rights — Mexico, C. &amp; S. America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389120"/>
            <a:ext cx="45720" cy="201168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43891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Tequila brand development since 2024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97680" y="129844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DISTRIBUTION ASSETS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97680" y="1691640"/>
            <a:ext cx="2194560" cy="1463040"/>
          </a:xfrm>
          <a:prstGeom prst="rect">
            <a:avLst/>
          </a:prstGeom>
          <a:solidFill>
            <a:srgbClr val="0C1108"/>
          </a:solidFill>
          <a:ln w="6350">
            <a:solidFill>
              <a:srgbClr val="C9A5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1828800"/>
            <a:ext cx="502920" cy="502920"/>
          </a:xfrm>
          <a:prstGeom prst="ellipse">
            <a:avLst/>
          </a:prstGeom>
          <a:solidFill>
            <a:srgbClr val="1A1200"/>
          </a:solidFill>
          <a:ln w="10160">
            <a:solidFill>
              <a:srgbClr val="C9A5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47488" y="1856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AuditDNA Platform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07408" y="23774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65,000+ verified agricultural contacts. Live CRM. Buyer-grower intelligence across USA, Mexico, LATAM.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675120" y="1691640"/>
            <a:ext cx="2194560" cy="1463040"/>
          </a:xfrm>
          <a:prstGeom prst="rect">
            <a:avLst/>
          </a:prstGeom>
          <a:solidFill>
            <a:srgbClr val="0C1108"/>
          </a:solidFill>
          <a:ln w="6350">
            <a:solidFill>
              <a:srgbClr val="C9A5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12280" y="1828800"/>
            <a:ext cx="502920" cy="502920"/>
          </a:xfrm>
          <a:prstGeom prst="ellipse">
            <a:avLst/>
          </a:prstGeom>
          <a:solidFill>
            <a:srgbClr val="1A1200"/>
          </a:solidFill>
          <a:ln w="10160">
            <a:solidFill>
              <a:srgbClr val="C9A5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22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24928" y="1856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EnjoyBaja Real Estate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84848" y="23774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Baja California luxury market. Hospitality relationships for on-premise tequila placement.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297680" y="3291840"/>
            <a:ext cx="2194560" cy="1463040"/>
          </a:xfrm>
          <a:prstGeom prst="rect">
            <a:avLst/>
          </a:prstGeom>
          <a:solidFill>
            <a:srgbClr val="0C1108"/>
          </a:solidFill>
          <a:ln w="6350">
            <a:solidFill>
              <a:srgbClr val="C9A5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434840" y="3429000"/>
            <a:ext cx="502920" cy="502920"/>
          </a:xfrm>
          <a:prstGeom prst="ellipse">
            <a:avLst/>
          </a:prstGeom>
          <a:solidFill>
            <a:srgbClr val="1A1200"/>
          </a:solidFill>
          <a:ln w="10160">
            <a:solidFill>
              <a:srgbClr val="C9A5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3484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47488" y="3456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WeLink Network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407408" y="39776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buyer-grower matching. 3,000+ verified produce buyers = premium spirits buyers.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675120" y="3291840"/>
            <a:ext cx="2194560" cy="1463040"/>
          </a:xfrm>
          <a:prstGeom prst="rect">
            <a:avLst/>
          </a:prstGeom>
          <a:solidFill>
            <a:srgbClr val="0C1108"/>
          </a:solidFill>
          <a:ln w="6350">
            <a:solidFill>
              <a:srgbClr val="C9A5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12280" y="3429000"/>
            <a:ext cx="502920" cy="502920"/>
          </a:xfrm>
          <a:prstGeom prst="ellipse">
            <a:avLst/>
          </a:prstGeom>
          <a:solidFill>
            <a:srgbClr val="1A1200"/>
          </a:solidFill>
          <a:ln w="10160">
            <a:solidFill>
              <a:srgbClr val="C9A5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1228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24928" y="3456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Azul Group LLC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784848" y="39776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entity. U.S. receiving structure for SWIFT bank transfers from Jalisco plants.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F"/>
          </a:solidFill>
          <a:ln w="12700">
            <a:solidFill>
              <a:srgbClr val="080B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STRATEGY &amp; INVESTOR RETURNS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53035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Paths to Liquidity — Premium Tequila Is Highly Acquirable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152144"/>
            <a:ext cx="8686800" cy="0"/>
          </a:xfrm>
          <a:prstGeom prst="line">
            <a:avLst/>
          </a:prstGeom>
          <a:noFill/>
          <a:ln w="19050">
            <a:solidFill>
              <a:srgbClr val="C9A5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98448"/>
            <a:ext cx="4224528" cy="1572768"/>
          </a:xfrm>
          <a:prstGeom prst="rect">
            <a:avLst/>
          </a:prstGeom>
          <a:solidFill>
            <a:srgbClr val="141B24"/>
          </a:solidFill>
          <a:ln w="6350">
            <a:solidFill>
              <a:srgbClr val="C9A5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298448"/>
            <a:ext cx="4224528" cy="54864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356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Acquisition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77393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Diageo paid $1B for Casamigos (2017). Brown-Forman acquired brands at 3–5× revenue. Premium tequila continues attracting major spirits group acquisitions.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3931920" cy="274320"/>
          </a:xfrm>
          <a:prstGeom prst="rect">
            <a:avLst/>
          </a:prstGeom>
          <a:solidFill>
            <a:srgbClr val="0A1408"/>
          </a:solidFill>
          <a:ln w="508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237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5×–15× Revenue Multiple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90872" y="1298448"/>
            <a:ext cx="4224528" cy="1572768"/>
          </a:xfrm>
          <a:prstGeom prst="rect">
            <a:avLst/>
          </a:prstGeom>
          <a:solidFill>
            <a:srgbClr val="141B24"/>
          </a:solidFill>
          <a:ln w="6350">
            <a:solidFill>
              <a:srgbClr val="E8C8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1298448"/>
            <a:ext cx="4224528" cy="54864"/>
          </a:xfrm>
          <a:prstGeom prst="rect">
            <a:avLst/>
          </a:prstGeom>
          <a:solidFill>
            <a:srgbClr val="E8C87A"/>
          </a:solidFill>
          <a:ln w="12700">
            <a:solidFill>
              <a:srgbClr val="E8C8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4356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Equity Recap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8032" y="177393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firms specializing in spirits (Constellation, Pernod, Suntory) actively seeking proven brands with distribution infrastructure. Target: $50M–$200M enterprise value.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28032" y="2505456"/>
            <a:ext cx="3931920" cy="274320"/>
          </a:xfrm>
          <a:prstGeom prst="rect">
            <a:avLst/>
          </a:prstGeom>
          <a:solidFill>
            <a:srgbClr val="0A1408"/>
          </a:solidFill>
          <a:ln w="508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25237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3×–8× EBITDA Multiple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990088"/>
            <a:ext cx="4224528" cy="1572768"/>
          </a:xfrm>
          <a:prstGeom prst="rect">
            <a:avLst/>
          </a:prstGeom>
          <a:solidFill>
            <a:srgbClr val="141B24"/>
          </a:solidFill>
          <a:ln w="6350">
            <a:solidFill>
              <a:srgbClr val="C9A5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990088"/>
            <a:ext cx="4224528" cy="54864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272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Portfolio Roll-Up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346557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Azul becomes anchor brand in a multi-SKU spirits portfolio — Blanco, Reposado, Añejo, Reserva, plus potential mezcal extension under the same production network.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197096"/>
            <a:ext cx="3931920" cy="274320"/>
          </a:xfrm>
          <a:prstGeom prst="rect">
            <a:avLst/>
          </a:prstGeom>
          <a:solidFill>
            <a:srgbClr val="0A1408"/>
          </a:solidFill>
          <a:ln w="508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21538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Valuation Premium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90872" y="2990088"/>
            <a:ext cx="4224528" cy="1572768"/>
          </a:xfrm>
          <a:prstGeom prst="rect">
            <a:avLst/>
          </a:prstGeom>
          <a:solidFill>
            <a:srgbClr val="141B24"/>
          </a:solidFill>
          <a:ln w="6350">
            <a:solidFill>
              <a:srgbClr val="E8C8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2990088"/>
            <a:ext cx="4224528" cy="54864"/>
          </a:xfrm>
          <a:prstGeom prst="rect">
            <a:avLst/>
          </a:prstGeom>
          <a:solidFill>
            <a:srgbClr val="E8C87A"/>
          </a:solidFill>
          <a:ln w="12700">
            <a:solidFill>
              <a:srgbClr val="E8C8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1272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International Licensing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28032" y="346557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Free of Americas, cruise lines (Royal Caribbean, Norwegian), and European import partnerships established. License brand to regional operators for royalty income.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28032" y="4197096"/>
            <a:ext cx="3931920" cy="274320"/>
          </a:xfrm>
          <a:prstGeom prst="rect">
            <a:avLst/>
          </a:prstGeom>
          <a:solidFill>
            <a:srgbClr val="0A1408"/>
          </a:solidFill>
          <a:ln w="508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421538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Royalty Revenue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8600" y="468172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COMPARABLE TRANSACTIONS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28600" y="4882896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Casamigos → Diageo $1B (2017)  ·  818 Tequila (Kendall Jenner) — Moët Hennessy stake  ·  Código 1530 — Constellation Brands  ·  El Tesoro — Beam Suntory  ·  Tequila Herradura — Brown-Forman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F"/>
          </a:solidFill>
          <a:ln w="12700">
            <a:solidFill>
              <a:srgbClr val="080B0F"/>
            </a:solidFill>
            <a:prstDash val="solid"/>
          </a:ln>
        </p:spPr>
      </p:sp>
      <p:pic>
        <p:nvPicPr>
          <p:cNvPr id="3" name="Image 0" descr="https://images.unsplash.com/photo-1540189549336-e6e99c3679fe?w=1920&amp;q=80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55C"/>
          </a:solidFill>
          <a:ln w="12700">
            <a:solidFill>
              <a:srgbClr val="C9A5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600" kern="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INVEST IN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PREMIUM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TEQUILA BRAND?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2286000" y="2578608"/>
            <a:ext cx="4572000" cy="0"/>
          </a:xfrm>
          <a:prstGeom prst="line">
            <a:avLst/>
          </a:prstGeom>
          <a:noFill/>
          <a:ln w="19050">
            <a:solidFill>
              <a:srgbClr val="C9A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724912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Mexausa Food Group, Inc. is seeking $5M–$10M in growth capital to launch Don Azul Tequila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California and national U.S. market with a vetted Jalisco manufacturer and full product line.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60320" y="3456432"/>
            <a:ext cx="4023360" cy="1371600"/>
          </a:xfrm>
          <a:prstGeom prst="rect">
            <a:avLst/>
          </a:prstGeom>
          <a:solidFill>
            <a:srgbClr val="141B24"/>
          </a:solidFill>
          <a:ln w="6350">
            <a:solidFill>
              <a:srgbClr val="C9A5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60320" y="3547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0" y="3840480"/>
            <a:ext cx="3657600" cy="0"/>
          </a:xfrm>
          <a:prstGeom prst="line">
            <a:avLst/>
          </a:prstGeom>
          <a:noFill/>
          <a:ln w="19050">
            <a:solidFill>
              <a:srgbClr val="C9A5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0" y="39136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Saul Garcia — Strategic Capital Representative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560320" y="42062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sgarcia@mexausafg.com  ·  +1 (831) 251-3116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560320" y="44622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mexausafg.com  ·  donazultequila.com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AUTHORIZED RECIPIENTS ONLY — MEXAUSA FOOD GROUP, INC. —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 Azul Tequila — Investor Presentation</dc:title>
  <dc:subject>PptxGenJS Presentation</dc:subject>
  <dc:creator>Saul Garcia — Mexausa Food Group, Inc.</dc:creator>
  <cp:lastModifiedBy>Saul Garcia — Mexausa Food Group, Inc.</cp:lastModifiedBy>
  <cp:revision>1</cp:revision>
  <dcterms:created xsi:type="dcterms:W3CDTF">2026-06-05T08:53:12Z</dcterms:created>
  <dcterms:modified xsi:type="dcterms:W3CDTF">2026-06-05T08:53:12Z</dcterms:modified>
</cp:coreProperties>
</file>